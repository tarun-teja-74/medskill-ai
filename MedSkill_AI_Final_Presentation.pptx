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66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DEPARTMENT OF ROBOTICS &amp; AUTOMATION | BATCH 2024-28 (SEM V)</a:t>
            </a:r>
          </a:p>
          <a:p>
            <a:pPr>
              <a:spcBef>
                <a:spcPts val="1400"/>
              </a:spcBef>
              <a:defRPr sz="4000" b="1">
                <a:solidFill>
                  <a:srgbClr val="FFFFFF"/>
                </a:solidFill>
              </a:defRPr>
            </a:pPr>
            <a:r>
              <a:t>MedSkill AI: Practical Viva Trainer</a:t>
            </a:r>
          </a:p>
          <a:p>
            <a:pPr>
              <a:spcBef>
                <a:spcPts val="800"/>
              </a:spcBef>
              <a:defRPr sz="2000">
                <a:solidFill>
                  <a:srgbClr val="94A3B8"/>
                </a:solidFill>
              </a:defRPr>
            </a:pPr>
            <a:r>
              <a:t>A Human-Centered Digital Simulator for Healthcare Technology Students</a:t>
            </a:r>
          </a:p>
          <a:p>
            <a:pPr>
              <a:spcBef>
                <a:spcPts val="3000"/>
              </a:spcBef>
              <a:defRPr sz="1300">
                <a:solidFill>
                  <a:srgbClr val="0D9488"/>
                </a:solidFill>
              </a:defRPr>
            </a:pPr>
            <a:r>
              <a:t>CA2 — Activity 13: Design for the Unseen | Live Web Platform: https://medskill-ai.streamlit.app/</a:t>
            </a:r>
          </a:p>
          <a:p>
            <a:pPr>
              <a:spcBef>
                <a:spcPts val="1000"/>
              </a:spcBef>
              <a:defRPr sz="1200">
                <a:solidFill>
                  <a:srgbClr val="FFFFFF"/>
                </a:solidFill>
              </a:defRPr>
            </a:pPr>
            <a:r>
              <a:t>Target Disciplines: Respiratory Therapy | Anaesthesia Technology | Dialysis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0D9488"/>
                </a:solidFill>
              </a:rPr>
              <a:t>CA2 - ACTIVITY 13: DESIGN FOR THE UNSEEN</a:t>
            </a:r>
          </a:p>
          <a:p>
            <a:r>
              <a:rPr sz="2600" b="1">
                <a:solidFill>
                  <a:srgbClr val="0F172A"/>
                </a:solidFill>
              </a:rPr>
              <a:t>1. We Thought... Challenging Our First Understanding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b="1" sz="1400">
                <a:solidFill>
                  <a:srgbClr val="DC2626"/>
                </a:solidFill>
              </a:defRPr>
            </a:pPr>
            <a:r>
              <a:t>WHAT WE INITIALLY THOUGHT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• Students fail clinical vivas because they lack reference notes or textbook question banks.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• The obvious solution was compiling another massive PDF question bank or digital flashcard app.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• Students who operate equipment during 8-hour hospital postings naturally understand the underlying machine physics.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• Rote memorization of hospital SOPs is sufficient for university examinations.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b="1" sz="1400">
                <a:solidFill>
                  <a:srgbClr val="0284C7"/>
                </a:solidFill>
              </a:defRPr>
            </a:pPr>
            <a:r>
              <a:t>THE UNSEEN STAKEHOLDER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• Undergraduate technologists in Respiratory, Anaesthesia, and Dialysis technology.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• They operate complex life-support machines (ventilators, absorbers, hemodialyzers) during ICU rotations.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• Overlooked by mainstream EdTech (which caters only to doctors/MBBS or software coders).</a:t>
            </a:r>
          </a:p>
          <a:p>
            <a:pPr>
              <a:spcBef>
                <a:spcPts val="1000"/>
              </a:spcBef>
              <a:defRPr sz="1200">
                <a:solidFill>
                  <a:srgbClr val="0F172A"/>
                </a:solidFill>
              </a:defRPr>
            </a:pPr>
            <a:r>
              <a:t>• Experience extreme verbal paralysis when external university examiners ask them to explain physical laws aloud.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0D9488"/>
                </a:solidFill>
              </a:rPr>
              <a:t>CA2 - ACTIVITY 13: DESIGN FOR THE UNSEEN</a:t>
            </a:r>
          </a:p>
          <a:p>
            <a:r>
              <a:rPr sz="2600" b="1">
                <a:solidFill>
                  <a:srgbClr val="0F172A"/>
                </a:solidFill>
              </a:rPr>
              <a:t>2. We Observed &amp; Discovered... 25 Real Clinical Bottlenecks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5120640" cy="2103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300">
                <a:solidFill>
                  <a:srgbClr val="0D9488"/>
                </a:solidFill>
              </a:defRPr>
            </a:pPr>
            <a:r>
              <a:t>A. Alarm Fatigue &amp; Failures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Problems: 2, 8, 16, 22</a:t>
            </a:r>
            <a:br/>
            <a:r>
              <a:t>• Delayed response to ventilator alarms</a:t>
            </a:r>
            <a:br/>
            <a:r>
              <a:t>• Disconnection during repositioning</a:t>
            </a:r>
            <a:br/>
            <a:r>
              <a:t>• Severe ICU alarm desensitization</a:t>
            </a:r>
            <a:br/>
            <a:r>
              <a:t>• Missed patient-ventilator asynchrony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828800"/>
            <a:ext cx="5120640" cy="2103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300">
                <a:solidFill>
                  <a:srgbClr val="0D9488"/>
                </a:solidFill>
              </a:defRPr>
            </a:pPr>
            <a:r>
              <a:t>B. Airway &amp; Patient Hazards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Problems: 1, 3, 9, 10, 11, 21</a:t>
            </a:r>
            <a:br/>
            <a:r>
              <a:t>• Dry oxygen humidifier bottles</a:t>
            </a:r>
            <a:br/>
            <a:r>
              <a:t>• Accidental self-extubation risks</a:t>
            </a:r>
            <a:br/>
            <a:r>
              <a:t>• Unmonitored NIV mask air leaks</a:t>
            </a:r>
            <a:br/>
            <a:r>
              <a:t>• Endotracheal tube depth migration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2103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300">
                <a:solidFill>
                  <a:srgbClr val="0D9488"/>
                </a:solidFill>
              </a:defRPr>
            </a:pPr>
            <a:r>
              <a:t>C. Equipment &amp; Transport Risks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Problems: 12, 14, 18, 24</a:t>
            </a:r>
            <a:br/>
            <a:r>
              <a:t>• Equipment missing during admissions</a:t>
            </a:r>
            <a:br/>
            <a:r>
              <a:t>• Cylinder depletion during transport</a:t>
            </a:r>
            <a:br/>
            <a:r>
              <a:t>• Uncalibrated sensors &amp; expired seals</a:t>
            </a:r>
            <a:br/>
            <a:r>
              <a:t>• Inadequate monitoring of flowmeters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4114800"/>
            <a:ext cx="5120640" cy="2103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300">
                <a:solidFill>
                  <a:srgbClr val="0D9488"/>
                </a:solidFill>
              </a:defRPr>
            </a:pPr>
            <a:r>
              <a:t>D. Data Overload &amp; Reasoning</a:t>
            </a:r>
          </a:p>
          <a:p>
            <a:pPr>
              <a:spcBef>
                <a:spcPts val="400"/>
              </a:spcBef>
              <a:defRPr sz="1050">
                <a:solidFill>
                  <a:srgbClr val="0F172A"/>
                </a:solidFill>
              </a:defRPr>
            </a:pPr>
            <a:r>
              <a:t>Problems: 4, 5, 6, 7, 13, 15, 17, 20</a:t>
            </a:r>
            <a:br/>
            <a:r>
              <a:t>• Disconnect between ABG and vent settings</a:t>
            </a:r>
            <a:br/>
            <a:r>
              <a:t>• Incomplete shift handovers</a:t>
            </a:r>
            <a:br/>
            <a:r>
              <a:t>• Missed spontaneous weaning trials</a:t>
            </a:r>
            <a:br/>
            <a:r>
              <a:t>• Hours lost on manual paperwork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0D9488"/>
                </a:solidFill>
              </a:rPr>
              <a:t>CA2 - ACTIVITY 13: DESIGN FOR THE UNSEEN</a:t>
            </a:r>
          </a:p>
          <a:p>
            <a:r>
              <a:rPr sz="2600" b="1">
                <a:solidFill>
                  <a:srgbClr val="0F172A"/>
                </a:solidFill>
              </a:rPr>
              <a:t>3. We Realised the Real Problem Was... Passive Revision Syndrome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828800"/>
            <a:ext cx="94183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48640"/>
          <a:lstStyle/>
          <a:p>
            <a:pPr algn="ctr">
              <a:defRPr b="1" sz="1400">
                <a:solidFill>
                  <a:srgbClr val="0284C7"/>
                </a:solidFill>
              </a:defRPr>
            </a:pPr>
            <a:r>
              <a:t>THE ROOT CAUSE DISCOVERED BEHIND ALL 25 PROBLEMS:</a:t>
            </a:r>
          </a:p>
          <a:p>
            <a:pPr>
              <a:spcBef>
                <a:spcPts val="1200"/>
              </a:spcBef>
              <a:defRPr sz="1300">
                <a:solidFill>
                  <a:srgbClr val="0F172A"/>
                </a:solidFill>
              </a:defRPr>
            </a:pPr>
            <a:r>
              <a:t>• Floor Reality vs Exam Reality: In hospital postings, students execute physical tasks mechanically under high pressure. They rarely verbalize *why* a parameter behaves a certain way.</a:t>
            </a:r>
          </a:p>
          <a:p>
            <a:pPr>
              <a:spcBef>
                <a:spcPts val="1200"/>
              </a:spcBef>
              <a:defRPr sz="1300">
                <a:solidFill>
                  <a:srgbClr val="0F172A"/>
                </a:solidFill>
              </a:defRPr>
            </a:pPr>
            <a:r>
              <a:t>• Passive Revision Syndrome: Students own 500+ pages of PDF notes. Reading creates an illusion of mastery, but fails completely when an external examiner demands immediate oral synthesis.</a:t>
            </a:r>
          </a:p>
          <a:p>
            <a:pPr>
              <a:spcBef>
                <a:spcPts val="1200"/>
              </a:spcBef>
              <a:defRPr sz="1300">
                <a:solidFill>
                  <a:srgbClr val="0F172A"/>
                </a:solidFill>
              </a:defRPr>
            </a:pPr>
            <a:r>
              <a:t>• Zero Low-Stakes Practice: There was no accessible digital simulator to test conceptual depth, expose misconceptions, and practice oral articulation before facing university examiners.</a:t>
            </a:r>
          </a:p>
          <a:p>
            <a:pPr>
              <a:spcBef>
                <a:spcPts val="1200"/>
              </a:spcBef>
              <a:defRPr sz="1300">
                <a:solidFill>
                  <a:srgbClr val="0F172A"/>
                </a:solidFill>
              </a:defRPr>
            </a:pPr>
            <a:r>
              <a:t>• Reframed Problem Statement (How Might We): 'How might we build an accessible, interactive digital viva simulator that diagnoses conceptual misunderstandings in healthcare technology students and enables verbal response self-evaluation without requiring complex infrastructure?'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0D9488"/>
                </a:solidFill>
              </a:rPr>
              <a:t>CA2 - ACTIVITY 13: DESIGN FOR THE UNSEEN</a:t>
            </a:r>
          </a:p>
          <a:p>
            <a:r>
              <a:rPr sz="2600" b="1">
                <a:solidFill>
                  <a:srgbClr val="0F172A"/>
                </a:solidFill>
              </a:rPr>
              <a:t>4. We Generated 10 Ideas &amp; Killed Our First Solution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b="1" sz="1300">
                <a:solidFill>
                  <a:srgbClr val="B91C1C"/>
                </a:solidFill>
              </a:defRPr>
            </a:pPr>
            <a:r>
              <a:t>KILL YOUR FIRST IDEA: 3D VR KNOB SIMULATOR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First obvious thought: build a 3D virtual reality simulator where students turn ventilator knobs.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Why It Failed / Discarded: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1. Solves the WRONG problem: Students already touch real machines in hospital postings; their real bottleneck is verbal clinical reasoning.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2. Cost &amp; Access Barrier: VR headsets and high-end GPUs are completely inaccessible to government college students.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3. High Friction: 2GB+ downloads prevent quick study during 10-minute clinical tea breaks.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365760"/>
          <a:lstStyle/>
          <a:p>
            <a:pPr algn="ctr">
              <a:defRPr b="1" sz="1300">
                <a:solidFill>
                  <a:srgbClr val="15803D"/>
                </a:solidFill>
              </a:defRPr>
            </a:pPr>
            <a:r>
              <a:t>10 IDEAS GENERATED -&gt; SELECTED STRATEGY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Used Brainstorming &amp; SCAMPER across 10 concepts (flashcards, voice bots, peer calling, knob games, mobile apps).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Key Decisions Made: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Idea 4 (Selected): Web-based Dual-Mode Practical Viva Trainer (MCQ + Quick Viva Mode) with zero login friction.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Idea 7 (Selected): Targeted Rule-Based Study Recommendations isolating only missed questions.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Idea 8 (Selected): Curated 144-Question Verified Curriculum Bank (12 per topic).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Idea 9 (Selected): Offline-First Knowledge Engine with optional Gemini LLM fallback.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0D9488"/>
                </a:solidFill>
              </a:rPr>
              <a:t>CA2 - ACTIVITY 13: DESIGN FOR THE UNSEEN</a:t>
            </a:r>
          </a:p>
          <a:p>
            <a:r>
              <a:rPr sz="2600" b="1">
                <a:solidFill>
                  <a:srgbClr val="0F172A"/>
                </a:solidFill>
              </a:rPr>
              <a:t>5. We Built Prototype 1: Initial Fast Interactive Build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828800"/>
            <a:ext cx="9418320" cy="4389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457200"/>
          <a:lstStyle/>
          <a:p>
            <a:pPr algn="ctr">
              <a:defRPr b="1" sz="1400">
                <a:solidFill>
                  <a:srgbClr val="0284C7"/>
                </a:solidFill>
              </a:defRPr>
            </a:pPr>
            <a:r>
              <a:t>PROTOTYPE 1 ARCHITECTURE &amp; CAPABILITIES</a:t>
            </a:r>
          </a:p>
          <a:p>
            <a:pPr>
              <a:spcBef>
                <a:spcPts val="1200"/>
              </a:spcBef>
              <a:defRPr sz="1250">
                <a:solidFill>
                  <a:srgbClr val="0F172A"/>
                </a:solidFill>
              </a:defRPr>
            </a:pPr>
            <a:r>
              <a:t>• Rapid Python + Streamlit Web Implementation: Built as an interactive prototype to test formative practice.</a:t>
            </a:r>
          </a:p>
          <a:p>
            <a:pPr>
              <a:spcBef>
                <a:spcPts val="1200"/>
              </a:spcBef>
              <a:defRPr sz="1250">
                <a:solidFill>
                  <a:srgbClr val="0F172A"/>
                </a:solidFill>
              </a:defRPr>
            </a:pPr>
            <a:r>
              <a:t>• 24 Curated Practical Questions: 8 questions per specialty across Respiratory, Anaesthesia, and Dialysis technology.</a:t>
            </a:r>
          </a:p>
          <a:p>
            <a:pPr>
              <a:spcBef>
                <a:spcPts val="1200"/>
              </a:spcBef>
              <a:defRPr sz="1250">
                <a:solidFill>
                  <a:srgbClr val="0F172A"/>
                </a:solidFill>
              </a:defRPr>
            </a:pPr>
            <a:r>
              <a:t>• Basic MCQ Mechanics: 4-option radio selection with synchronous Check Answer feedback.</a:t>
            </a:r>
          </a:p>
          <a:p>
            <a:pPr>
              <a:spcBef>
                <a:spcPts val="1200"/>
              </a:spcBef>
              <a:defRPr sz="1250">
                <a:solidFill>
                  <a:srgbClr val="0F172A"/>
                </a:solidFill>
              </a:defRPr>
            </a:pPr>
            <a:r>
              <a:t>• Basic Score Metrics: Tracking attempted questions, correct count, and live session accuracy.</a:t>
            </a:r>
          </a:p>
          <a:p>
            <a:pPr>
              <a:spcBef>
                <a:spcPts val="1200"/>
              </a:spcBef>
              <a:defRPr sz="1250">
                <a:solidFill>
                  <a:srgbClr val="0F172A"/>
                </a:solidFill>
              </a:defRPr>
            </a:pPr>
            <a:r>
              <a:t>• Initial Limitation Identified: Lacked oral self-testing; small question bank; broke if external API key was missing; had critical mobile dark-mode contrast defect.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0D9488"/>
                </a:solidFill>
              </a:rPr>
              <a:t>CA2 - ACTIVITY 13: DESIGN FOR THE UNSEEN</a:t>
            </a:r>
          </a:p>
          <a:p>
            <a:r>
              <a:rPr sz="2600" b="1">
                <a:solidFill>
                  <a:srgbClr val="0F172A"/>
                </a:solidFill>
              </a:rPr>
              <a:t>6. Users Told Us... So We Changed (Evidence of Iteration)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82880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023360"/>
                <a:gridCol w="438912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Stakeholder Feedback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Observed Friction in Prototype 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Engineering Iteration in Prototype 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Riddhi (Resp. Tech)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Dark-mode mobile phones rendered white text on white cards (invisible text).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Locked .streamlit/config.toml to light base and applied !important dark navy CSS overrides.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Siddhi (Resp. Tech)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Initial bank had only 2 questions per topic; insufficient for full 2-hour viva.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Expanded question bank to 144 verified questions (exactly 12 in every topic).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Naziya (Allied Health)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Vivas are verbal, not multiple choice! Students freeze when asked to explain aloud.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Engineered Quick Viva Mode: students type/draft answers and compare against reference models.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Bhargav (Anaesthesia)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Students had to restart entire 20-question quiz just to review 2 missed mistakes.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Engineered 1-Click Quick Retry Quiz isolating only incorrect questions for immediate retest.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Naveen (ICU Posting)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Hospital basements have zero mobile network; app crashed if API key missing.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Built Offline-First Knowledge Engine searching local verified records with zero crash risk.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0D9488"/>
                </a:solidFill>
              </a:rPr>
              <a:t>CA2 - ACTIVITY 13: DESIGN FOR THE UNSEEN</a:t>
            </a:r>
          </a:p>
          <a:p>
            <a:r>
              <a:rPr sz="2600" b="1">
                <a:solidFill>
                  <a:srgbClr val="0F172A"/>
                </a:solidFill>
              </a:rPr>
              <a:t>7. Our Final Solution: MedSkill AI (Live Deployed Platform)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28800"/>
            <a:ext cx="1033272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457200"/>
          <a:lstStyle/>
          <a:p>
            <a:pPr algn="ctr">
              <a:defRPr b="1" sz="1400">
                <a:solidFill>
                  <a:srgbClr val="0D9488"/>
                </a:solidFill>
              </a:defRPr>
            </a:pPr>
            <a:r>
              <a:t>MEDSKILL AI — PRODUCTION PLATFORM SUMMARY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Live Deployment: Hosted live on Streamlit Community Cloud at https://medskill-ai.streamlit.app/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144 Reviewed Viva Questions: Balanced across 12 topics in Respiratory, Anaesthesia, and Dialysis technology (12 per topic).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Dual-Mode Training: Seamlessly switch between Objective MCQ practice and Spoken Quick Viva self-evaluation.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Instant Diagnostic Feedback: Detailed clinical explanations + expandable 'Key Viva Revision Points' buzzword cards.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Targeted Remediation: Rule-based study recommendations with 1-click retry on missed items.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Ethical &amp; Operational Safety: 100% offline-first resilience; zero clinical prescribing; no patient data collected.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Impact: Transforms passive textbook memorization into active verbal confidence for university clinical examinations.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