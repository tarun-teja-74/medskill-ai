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9966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t>DEPARTMENT OF ROBOTICS &amp; AUTOMATION | BATCH 2024-28 (SEM V) | CA2 ACTIVITY 13</a:t>
            </a:r>
          </a:p>
          <a:p>
            <a:pPr>
              <a:spcBef>
                <a:spcPts val="1200"/>
              </a:spcBef>
              <a:defRPr sz="3800" b="1">
                <a:solidFill>
                  <a:srgbClr val="FFFFFF"/>
                </a:solidFill>
              </a:defRPr>
            </a:pPr>
            <a:r>
              <a:t>MedSkill AI: Practical Viva Trainer</a:t>
            </a:r>
          </a:p>
          <a:p>
            <a:pPr>
              <a:spcBef>
                <a:spcPts val="600"/>
              </a:spcBef>
              <a:defRPr sz="1800">
                <a:solidFill>
                  <a:srgbClr val="BAE6FD"/>
                </a:solidFill>
              </a:defRPr>
            </a:pPr>
            <a:r>
              <a:t>A Human-Centered Digital Simulator for Healthcare Technology Students</a:t>
            </a:r>
          </a:p>
          <a:p>
            <a:pPr>
              <a:spcBef>
                <a:spcPts val="1600"/>
              </a:spcBef>
              <a:defRPr sz="1300">
                <a:solidFill>
                  <a:srgbClr val="94A3B8"/>
                </a:solidFill>
              </a:defRPr>
            </a:pPr>
            <a:r>
              <a:t>Specialties: Respiratory Therapy | Anaesthesia Technology | Dialysis Technology</a:t>
            </a:r>
            <a:br/>
            <a:r>
              <a:t>Live Platform: https://medskill-ai.streamlit.app/ | Stanford d.school Design Thinking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D9488"/>
                </a:solidFill>
              </a:rPr>
              <a:t>CA2 - ACTIVITY 13: DESIGN FOR THE UNSEEN</a:t>
            </a:r>
          </a:p>
          <a:p>
            <a:r>
              <a:rPr sz="2400" b="1">
                <a:solidFill>
                  <a:srgbClr val="0F172A"/>
                </a:solidFill>
              </a:rPr>
              <a:t>1. We Thought... Challenging Our Initial Assumptions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b="1" sz="1300">
                <a:solidFill>
                  <a:srgbClr val="64748B"/>
                </a:solidFill>
              </a:defRPr>
            </a:pPr>
            <a:r>
              <a:t>WHAT WE INITIALLY THOUGHT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Initial Assumption: Healthcare technology students fail practical vivas because they lack lecture notes, PPTs, or reference question banks.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Proposed Obvious Fix: Give students more PDF question banks or build a 3D VR ICU room to turn machine knobs.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The Design Thinking Test: In Activity 13 ('Design for the Unseen'), we suspended assumptions and immersed ourselves in the hospital floor.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b="1" sz="1300">
                <a:solidFill>
                  <a:srgbClr val="0D9488"/>
                </a:solidFill>
              </a:defRPr>
            </a:pPr>
            <a:r>
              <a:t>THE UNSEEN STAKEHOLDERS (8 STUDENTS)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The Cohort: Allied health technologists operating mechanical ventilators, anaesthesia workstations, and dialyzers.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Why Unseen: Instructors see them attaching circuits and assume mastery. But oral vivas by external examiners cause deep panic.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Direct Research Participants: Riddhi, Siddhi, Naziya, Preethi, Bhargav, Naveen, Tharun, and Atharv.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Observation Grounding: Shadowed 6 clinical shifts across adult ICUs, emergency OTs, and hemodialysis suites.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D9488"/>
                </a:solidFill>
              </a:rPr>
              <a:t>CA2 - ACTIVITY 13: DESIGN FOR THE UNSEEN</a:t>
            </a:r>
          </a:p>
          <a:p>
            <a:r>
              <a:rPr sz="2400" b="1">
                <a:solidFill>
                  <a:srgbClr val="0F172A"/>
                </a:solidFill>
              </a:rPr>
              <a:t>2. We Observed &amp; Discovered... (25 Real Clinical Problems)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146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b="1" sz="1100">
                <a:solidFill>
                  <a:srgbClr val="0284C7"/>
                </a:solidFill>
              </a:defRPr>
            </a:pPr>
            <a:r>
              <a:t>A. Airway &amp; Circuit Hazards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Low water levels in oxygen humidifier bottles (inspissated secretions)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Accidental patient self-extubation during nurse turns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Ventilator circuit disconnection during repositioning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Undetected NIV mask leaks compromising ventilation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Endotracheal tube (ETT) depth migration past incisors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Delayed suctioning causing secretion plugging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645920"/>
            <a:ext cx="25146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b="1" sz="1100">
                <a:solidFill>
                  <a:srgbClr val="0284C7"/>
                </a:solidFill>
              </a:defRPr>
            </a:pPr>
            <a:r>
              <a:t>B. Alarms &amp; Critical Events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Delayed response to high-priority ventilator alarms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Severe ICU Alarm Fatigue (reflexive muting)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Unidentified patient-ventilator asynchrony (double triggering)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Dialyzer TMP spikes &amp; fiber membrane clotting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Delayed recognition of patient respiratory deterioration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Repeated unmonitored desaturation episodes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25146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b="1" sz="1100">
                <a:solidFill>
                  <a:srgbClr val="0284C7"/>
                </a:solidFill>
              </a:defRPr>
            </a:pPr>
            <a:r>
              <a:t>C. Ward Workflow &amp; Transport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Incomplete respiratory therapist shift handovers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Time-consuming manual paper flowsheet charting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Transport oxygen cylinder pressure depletion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Equipment unavailability during emergency code calls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Missing/lost chest X-ray jackets during morning rounds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Expired equipment maintenance &amp; sensor calibrations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1645920"/>
            <a:ext cx="25146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b="1" sz="1100">
                <a:solidFill>
                  <a:srgbClr val="0284C7"/>
                </a:solidFill>
              </a:defRPr>
            </a:pPr>
            <a:r>
              <a:t>D. Data Overload &amp; Reasoning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Difficulty correlating real-time ABG reports with vent changes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Missed spontaneous breathing trials (SBT) for weaning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Inadequate monitoring of delivered FiO2 &amp; flow rates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Managing pending RT orders across 15-20 beds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Lack of a centralized respiratory monitoring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D9488"/>
                </a:solidFill>
              </a:rPr>
              <a:t>CA2 - ACTIVITY 13: DESIGN FOR THE UNSEEN</a:t>
            </a:r>
          </a:p>
          <a:p>
            <a:r>
              <a:rPr sz="2400" b="1">
                <a:solidFill>
                  <a:srgbClr val="0F172A"/>
                </a:solidFill>
              </a:rPr>
              <a:t>3. We Realised the Real Problem Was: Passive Revision Syndrome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457200"/>
          <a:lstStyle/>
          <a:p>
            <a:pPr algn="ctr">
              <a:defRPr b="1" sz="1300">
                <a:solidFill>
                  <a:srgbClr val="0D9488"/>
                </a:solidFill>
              </a:defRPr>
            </a:pPr>
            <a:r>
              <a:t>THE ROOT CAUSE DISCOVERED BEHIND ALL 25 PROBLEMS:</a:t>
            </a:r>
          </a:p>
          <a:p>
            <a:pPr>
              <a:spcBef>
                <a:spcPts val="1000"/>
              </a:spcBef>
              <a:defRPr sz="1600" b="1">
                <a:solidFill>
                  <a:srgbClr val="0F172A"/>
                </a:solidFill>
              </a:defRPr>
            </a:pPr>
            <a:r>
              <a:t>"Students know what button to press, but freeze completely when external examiners ask WHY a ventilator pressure spiked or HOW an APL valve functions."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Passive Revision Syndrome: Reading PDFs, notes, and manuals creates an illusion of competence. Passive reading does not activate active recall circuits.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Oral Viva Reality: Examiners do not give 4 multiple-choice options; they ask rapid oral questions under severe time pressure.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Fear of Judgment: Mock vivas with seniors or professors induce fear. Students need a safe, zero-judgment digital sandbox.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The Missing Bridge: No educational tool existed that bridged routine hospital procedures with verbal physiological reasoning.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Reframed Problem Statement: How might we provide healthcare technology students with an accessible, interactive digital viva simulator that pinpoints conceptual misconceptions and provides verified textbook explanations without requiring complex infrastructure?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D9488"/>
                </a:solidFill>
              </a:rPr>
              <a:t>CA2 - ACTIVITY 13: DESIGN FOR THE UNSEEN</a:t>
            </a:r>
          </a:p>
          <a:p>
            <a:r>
              <a:rPr sz="2400" b="1">
                <a:solidFill>
                  <a:srgbClr val="0F172A"/>
                </a:solidFill>
              </a:rPr>
              <a:t>4. What Makes MedSkill AI Different From a Generic AI Chatbot?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327855"/>
              </a:tblGrid>
              <a:tr h="65314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Evaluation Dimension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Generic AI Chatbot (ChatGPT / Claude / Copilot)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MedSkill AI (Dedicated Viva Simulator)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Curriculum Grounding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Generic, unpredictable generation; prone to clinical hallucinations &amp; unverified values.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144 verified curriculum questions anchored in Egan, Miller, and Daugirdas textbooks.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Psychological Viva Urgency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 time pressure. Chatbots sit passively waiting for user text with zero stress stimulus.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30-Second Examiner Pressure Mode: Active countdown timer replicating oral viva anxiety.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Offline Reliability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Requires 100% active cloud connection; completely fails in shielded hospital basements &amp; labs.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100% Offline-First Architecture: Local keyword retrieval engine runs with zero API keys or network.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Structured Practice 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Open-ended chat log with no concept of passing, failing, difficulty tiers, or topics.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Dual Mode (Objective MCQ + Quick Viva comparison against model instructor answers).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Remediation &amp; Takeaways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 structured gap analysis. Student must prompt 'quiz me on what I got wrong'.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1-Click Retry Quiz targeting missed items + 1-Click Pocket Viva Cram Sheet (.docx generator).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Clinical Safety Boundaries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Unbounded generative text; may hallucinate dangerous prescribing recommendations.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Strict educational scope; explicit clinical disclaimer; no diagnostic or clinical liability.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D9488"/>
                </a:solidFill>
              </a:rPr>
              <a:t>CA2 - ACTIVITY 13: DESIGN FOR THE UNSEEN</a:t>
            </a:r>
          </a:p>
          <a:p>
            <a:r>
              <a:rPr sz="2400" b="1">
                <a:solidFill>
                  <a:srgbClr val="0F172A"/>
                </a:solidFill>
              </a:rPr>
              <a:t>5. We Generated &amp; Killed Our First Idea (Concept Selection)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b="1" sz="1200">
                <a:solidFill>
                  <a:srgbClr val="DC2626"/>
                </a:solidFill>
              </a:defRPr>
            </a:pPr>
            <a:r>
              <a:t>KILL YOUR FIRST IDEA: 3D VR KNOB SIMULATOR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First Obvious Idea: Build a 3D Virtual Reality simulator where students walk through an ICU and turn virtual ventilator knobs.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Why We Killed It (Evidence-Based):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1. Wrong Problem: Students already touch real ventilators every shift. Their deficit is verbal conceptual reasoning, not motor skills.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2. Cost Barrier: VR headsets and gaming graphics cards are unaffordable for typical government college students.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3. High Friction: Large file downloads and setup time prevent quick 5-minute study sessions during hospital tea breaks.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b="1" sz="1200">
                <a:solidFill>
                  <a:srgbClr val="0D9488"/>
                </a:solidFill>
              </a:defRPr>
            </a:pPr>
            <a:r>
              <a:t>10 IDEAS GENERATED -&gt; SELECTED STRATEGY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1. Paper flashcards (Discarded: static, no feedback)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2. Heavy Android/iOS app (Discarded: app store barriers)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3. Voice-only AI chatbot (Discarded: high latency, poor speech recognition on medical terms in noisy labs)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4. Web-based practical viva simulator (SELECTED)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5. 3D VR knob simulator (KILLED: wrong problem)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6. Peer-to-peer audio calls (Discarded: scheduling conflicts)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7. Rule-based targeted gap recommendations (SELECTED)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8. Curated 144-question curriculum bank (SELECTED)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9. Offline-first intelligence with optional AI (SELECTED)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10. Gamified points leaderboard (Deprioritized: distraction)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D9488"/>
                </a:solidFill>
              </a:rPr>
              <a:t>CA2 - ACTIVITY 13: DESIGN FOR THE UNSEEN</a:t>
            </a:r>
          </a:p>
          <a:p>
            <a:r>
              <a:rPr sz="2400" b="1">
                <a:solidFill>
                  <a:srgbClr val="0F172A"/>
                </a:solidFill>
              </a:rPr>
              <a:t>6. Users Told Us... So We Changed (Evidence of Iteration)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114800"/>
                <a:gridCol w="4602175"/>
              </a:tblGrid>
              <a:tr h="5715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Stakeholder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Observed Friction in Prototype 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Engineering Iteration in Prototype 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Riddhi (Resp. Tech)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Dark-mode mobile phones rendered white font on white cards (invisible text).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Locked .streamlit/config.toml to light base + enforced dark navy !important CSS typography.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Siddhi (Resp. Tech)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Initial bank had only 2 questions per topic; insufficient for full 2-hour viva revision.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Expanded question bank to 144 verified questions (exactly 12 in every topic across 12 topics).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Naziya (Allied Health)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Vivas are verbal! Students freeze when asked to formulate an oral answer aloud.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Engineered Quick Viva Mode: students type/draft answers and compare against reference model answers.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Bhargav (Anaesthesia)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Students had to restart the entire 20-question quiz just to review 2 missed mistakes.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Engineered 1-Click Quick Retry Quiz isolating only incorrect questions for immediate retest.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Naveen (ICU Posting)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Hospital basements have zero mobile reception; app crashed if API key missing.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Built Offline-First Knowledge Engine searching local verified records with zero crash risk.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Preethi (Resp. Care)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Students panic because external examiners rush them; untimed quizzes don't prepare for viva.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Engineered 30-Second Examiner Pressure Mode: Rapid countdown timer with red urgency alerts.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Tharun (Resp. Care)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Students cannot take laptops/phones into the viva examination waiting hall.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Engineered 1-Click Pocket Viva Cram Sheet Generator creating printable 2-page .docx summaries.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D9488"/>
                </a:solidFill>
              </a:rPr>
              <a:t>CA2 - ACTIVITY 13: DESIGN FOR THE UNSEEN</a:t>
            </a:r>
          </a:p>
          <a:p>
            <a:r>
              <a:rPr sz="2400" b="1">
                <a:solidFill>
                  <a:srgbClr val="0F172A"/>
                </a:solidFill>
              </a:rPr>
              <a:t>7. Our Final Solution: MedSkill AI (Live Deployed Platform)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b="1" sz="1300">
                <a:solidFill>
                  <a:srgbClr val="0D9488"/>
                </a:solidFill>
              </a:defRPr>
            </a:pPr>
            <a:r>
              <a:t>MEDSKILL AI — PRODUCTION PLATFORM &amp; NEW FEATURE SUITE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Live Deployment: Hosted live on Streamlit Community Cloud at https://medskill-ai.streamlit.app/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144 Verified Curriculum Questions: Exactly 12 questions in each of the 12 core topics across Respiratory Therapy, Anaesthesia, and Dialysis technology.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Dual-Mode Simulation: Seamlessly switch between Objective MCQ practice and Spoken Quick Viva self-evaluation against reference instructor models.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NEW: 30-Second Examiner Pressure Mode: Rapid countdown timer injecting realistic exam-hall urgency with visual color changes.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NEW: 1-Click Pocket Viva Cram Sheet Generator: Produces compact, printable .docx cheat-sheets summarizing high-yield clinical rules &amp; missed questions.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NEW: 1-Click Quick Retry Quiz: Automatically isolates failed items so students can immediately achieve 100% mastery.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100% Offline-First Architecture: Tier 1 local knowledge engine runs without internet or API keys; Tier 2 provides optional Gemini integration.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Verified Impact: Tested with 8 core student stakeholders (Riddhi, Siddhi, Naziya, Preethi, Bhargav, Naveen, Tharun, Atharv) + 6 peer technologists.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